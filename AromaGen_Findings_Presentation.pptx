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AromaGen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Methodology, Findings, and Open Questions</a:t>
            </a:r>
          </a:p>
          <a:p>
            <a:r>
              <a:t>Demo Corpus: June 3–17,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Corpus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7 dialogue log files, June 3–17 2026 demo sessions</a:t>
            </a:r>
          </a:p>
          <a:p>
            <a:pPr>
              <a:defRPr sz="2000"/>
            </a:pPr>
            <a:r>
              <a:t>99 compose events = 99 sessions (one compose per session, no re-composing)</a:t>
            </a:r>
          </a:p>
          <a:p>
            <a:pPr>
              <a:defRPr sz="2000"/>
            </a:pPr>
            <a:r>
              <a:t>85 total feedback rounds, 11 accepted compositions</a:t>
            </a:r>
          </a:p>
          <a:p>
            <a:pPr>
              <a:defRPr sz="2000"/>
            </a:pPr>
            <a:r>
              <a:t>All analysis is reproducible from the raw dialogue logs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/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extract.py — filters raw logs to compose events, builds human_input.txt and scent_usage.csv</a:t>
            </a:r>
          </a:p>
          <a:p>
            <a:pPr>
              <a:defRPr sz="2000"/>
            </a:pPr>
            <a:r>
              <a:t>word_cloud.py — word cloud from session inputs, tuned stopword list</a:t>
            </a:r>
          </a:p>
          <a:p>
            <a:pPr>
              <a:defRPr sz="2000"/>
            </a:pPr>
            <a:r>
              <a:t>theme_taxonomy.py — classifies sessions into food/nature/place/memory/other, or noise</a:t>
            </a:r>
          </a:p>
          <a:p>
            <a:pPr lvl="1">
              <a:defRPr sz="1600"/>
            </a:pPr>
            <a:r>
              <a:t>Automatic rules + 33 manual corrections from full line-by-line review</a:t>
            </a:r>
          </a:p>
          <a:p>
            <a:pPr>
              <a:defRPr sz="2000"/>
            </a:pPr>
            <a:r>
              <a:t>scent_usage.py — scent frequency, floral-bias %, per-day usage</a:t>
            </a:r>
          </a:p>
          <a:p>
            <a:pPr>
              <a:defRPr sz="2000"/>
            </a:pPr>
            <a:r>
              <a:t>session_funnel.py — daily compose → feedback → accept funnel</a:t>
            </a:r>
          </a:p>
          <a:p>
            <a:pPr>
              <a:defRPr sz="2000"/>
            </a:pPr>
            <a:r>
              <a:t>feedback_coding.py — qualitative coding of all 85 feedback utterances (in progress)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Cloud — What People Wanted to Smell</a:t>
            </a:r>
          </a:p>
        </p:txBody>
      </p:sp>
      <p:pic>
        <p:nvPicPr>
          <p:cNvPr id="3" name="Picture 2" descr="wordcloud_filtere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850" y="1188720"/>
            <a:ext cx="8255994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5778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Dominant terms: scent, smell, Singapore, memory, food, coffee, flower, walking, joy, sweetness.</a:t>
            </a:r>
          </a:p>
          <a:p>
            <a:pPr>
              <a:defRPr sz="1400"/>
            </a:pPr>
            <a:r>
              <a:t>"Singapore" and place terms are prominent — sessions are location-specific to the deployment, not a general system finding.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 Taxonomy</a:t>
            </a:r>
          </a:p>
        </p:txBody>
      </p:sp>
      <p:pic>
        <p:nvPicPr>
          <p:cNvPr id="3" name="Picture 2" descr="theme_pi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156" y="1188720"/>
            <a:ext cx="4567382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5778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All 99 sessions (corrected from an earlier dedup bug — see notes). Nature 23, Food 20, Place 16, Memory 10, Other 8, Place &amp; Memory 1, Noise 21 (excluded).</a:t>
            </a:r>
          </a:p>
          <a:p>
            <a:pPr>
              <a:defRPr sz="1400"/>
            </a:pPr>
            <a:r>
              <a:t>Previously-pending row resolved with supervisor as joint Place &amp; Memory, not a single theme.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Noise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21 of 99 sessions flagged as noise, by detection reason:</a:t>
            </a:r>
          </a:p>
          <a:p>
            <a:pPr lvl="1">
              <a:defRPr sz="1600"/>
            </a:pPr>
            <a:r>
              <a:t>Facilitator question pattern — 6</a:t>
            </a:r>
          </a:p>
          <a:p>
            <a:pPr lvl="1">
              <a:defRPr sz="1600"/>
            </a:pPr>
            <a:r>
              <a:t>Single word, no theme match — 5</a:t>
            </a:r>
          </a:p>
          <a:p>
            <a:pPr lvl="1">
              <a:defRPr sz="1600"/>
            </a:pPr>
            <a:r>
              <a:t>Repeated-phrase (Whisper transcription glitch) — 4</a:t>
            </a:r>
          </a:p>
          <a:p>
            <a:pPr lvl="1">
              <a:defRPr sz="1600"/>
            </a:pPr>
            <a:r>
              <a:t>Manual override (holistic judgment) — 3</a:t>
            </a:r>
          </a:p>
          <a:p>
            <a:pPr lvl="1">
              <a:defRPr sz="1600"/>
            </a:pPr>
            <a:r>
              <a:t>High filler-word ratio — 2</a:t>
            </a:r>
          </a:p>
          <a:p>
            <a:pPr lvl="1">
              <a:defRPr sz="1600"/>
            </a:pPr>
            <a:r>
              <a:t>Manual exclude list (off-topic conversation) — 1</a:t>
            </a:r>
          </a:p>
          <a:p>
            <a:pPr>
              <a:defRPr sz="2000"/>
            </a:pPr>
            <a:r>
              <a:t>A fixed &lt;20-char rule was deliberately replaced with coherence-based rules after finding real counterexamples in both directions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Scent Usage — Most-Used Scents</a:t>
            </a:r>
          </a:p>
        </p:txBody>
      </p:sp>
      <p:pic>
        <p:nvPicPr>
          <p:cNvPr id="3" name="Picture 2" descr="scent_count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309" y="1188720"/>
            <a:ext cx="6991077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5778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Floral-default bias: 62.6% of sessions (62/99) include Citronelly, Lavender, or Eucalipto —</a:t>
            </a:r>
          </a:p>
          <a:p>
            <a:pPr>
              <a:defRPr sz="1400"/>
            </a:pPr>
            <a:r>
              <a:t>the two most-used scents corpus-wide, suggesting a possible reliance on a "safe" floral fallback.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Scent Usage — By Day</a:t>
            </a:r>
          </a:p>
        </p:txBody>
      </p:sp>
      <p:pic>
        <p:nvPicPr>
          <p:cNvPr id="3" name="Picture 2" descr="scent_by_da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266" y="1188720"/>
            <a:ext cx="8379163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5778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June 15 is a major outlier (151 occurrences) — consistent with it being the busiest demo day overall.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Funnel — Compose → Feedback → Accept</a:t>
            </a:r>
          </a:p>
        </p:txBody>
      </p:sp>
      <p:pic>
        <p:nvPicPr>
          <p:cNvPr id="3" name="Picture 2" descr="session_funnel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135" y="1188720"/>
            <a:ext cx="7689424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5778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Totals validate against known corpus stats: 99 composes, 85 feedback rounds.</a:t>
            </a:r>
          </a:p>
          <a:p>
            <a:pPr>
              <a:defRPr sz="1400"/>
            </a:pPr>
            <a:r>
              <a:t>Acceptance rate declines across the busiest days: 12.8% (6/15) → 10.5% (6/16) → 5.9% (6/17).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Iterations Before Acceptance</a:t>
            </a:r>
          </a:p>
        </p:txBody>
      </p:sp>
      <p:pic>
        <p:nvPicPr>
          <p:cNvPr id="3" name="Picture 2" descr="accept_iteration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967" y="1188720"/>
            <a:ext cx="671776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5778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Of 11 accepted sessions: 3 first-try, 5 took one round, 3 took two rounds — feedback loop converges quickly when it works.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 vs. Acceptance Rate</a:t>
            </a:r>
          </a:p>
        </p:txBody>
      </p:sp>
      <p:pic>
        <p:nvPicPr>
          <p:cNvPr id="3" name="Picture 2" descr="theme_acceptance_rat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583" y="1188720"/>
            <a:ext cx="6870529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5778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Requested by supervisor: cross-reference theme classification against which sessions were accepted.</a:t>
            </a:r>
          </a:p>
          <a:p>
            <a:pPr>
              <a:defRPr sz="1400"/>
            </a:pPr>
            <a:r>
              <a:t>Memory-themed sessions accept far more often (50%) than any other theme — food 15%, other 12.5%, place 6.2%, nature 4.3%.</a:t>
            </a:r>
          </a:p>
          <a:p>
            <a:pPr>
              <a:defRPr sz="1400"/>
            </a:pPr>
            <a:r>
              <a:t>Caveat: small per-theme sample sizes (10 or fewer for most categories) — suggestive, not statistically robust.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Feedback Coding — Scent Qualities Requested</a:t>
            </a:r>
          </a:p>
        </p:txBody>
      </p:sp>
      <p:pic>
        <p:nvPicPr>
          <p:cNvPr id="3" name="Picture 2" descr="feedback_qualit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847" y="1188720"/>
            <a:ext cx="6868001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5778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All 85 feedback rounds accounted for (60 coded, 25 flagged noise). Noise, Sweet, and Fragrant dominate.</a:t>
            </a:r>
          </a:p>
          <a:p>
            <a:pPr>
              <a:defRPr sz="1400"/>
            </a:pPr>
            <a:r>
              <a:t>"Spicy" added as a local 11th category — a published odor-quality guide had no clean bucket for common food-spice feedback.</a:t>
            </a:r>
          </a:p>
          <a:p>
            <a:pPr>
              <a:defRPr sz="1400"/>
            </a:pPr>
            <a:r>
              <a:t>Next: second independent coder on a subset, for inter-rater reliability (per study protocol section 14).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 pairs of sessions share identical text/output but have different session_ids — genuinely distinct sessions, not logging duplicates; all 99 kept</a:t>
            </a:r>
          </a:p>
          <a:p>
            <a:pPr>
              <a:defRPr sz="2000"/>
            </a:pPr>
            <a:r>
              <a:t>Catalog scent names differ from protocol naming (e.g. "Lavendar oil", "Citronelly acet") — handled via stem matching</a:t>
            </a:r>
          </a:p>
          <a:p>
            <a:pPr>
              <a:defRPr sz="2000"/>
            </a:pPr>
            <a:r>
              <a:t>Some sessions have null session_id, later corrected in a follow-up event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Outstanding / Open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Feedback coding: complete (85/85); needs a second coder for inter-rater reliability</a:t>
            </a:r>
          </a:p>
          <a:p>
            <a:pPr>
              <a:defRPr sz="2000"/>
            </a:pPr>
            <a:r>
              <a:t>prepare_finetune.py / eval_models.py: IRB/consent cleared</a:t>
            </a:r>
          </a:p>
          <a:p>
            <a:pPr lvl="1">
              <a:defRPr sz="1600"/>
            </a:pPr>
            <a:r>
              <a:t>Still blocked on an OpenAI API key with fine-tuning access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/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